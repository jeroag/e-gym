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097280"/>
            <a:ext cx="4114800" cy="41148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E-GYM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 para gestión de entrenamiento personal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4572000" cy="0"/>
          </a:xfrm>
          <a:prstGeom prst="line">
            <a:avLst/>
          </a:prstGeom>
          <a:noFill/>
          <a:ln w="12700">
            <a:solidFill>
              <a:srgbClr val="ECA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Fin de Ciclo  ·  DAW / DAM  ·  2024–25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59436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59436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5943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59436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5943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59436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5943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59436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943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vamos a ver?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7335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motivación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420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54203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E-GYM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1071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4107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7939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27939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512064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14807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1480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67335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167335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del entrenador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251460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5420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254203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del cliente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17920" y="338328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41071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34107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17920" y="425196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7939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78040" y="427939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y modo offline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17920" y="5120640"/>
            <a:ext cx="5303520" cy="713232"/>
          </a:xfrm>
          <a:prstGeom prst="roundRect">
            <a:avLst>
              <a:gd name="adj" fmla="val 15385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14807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514807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y conclusiones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— 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día a día sin herramientas digitales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947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Seguimiento en papel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3288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entrenadores registran rutinas y progreso en cuadernos que se pierden o son difíciles de consultar en el momento del entreno.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25880" y="4096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análisis del progreso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68172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clientes no pueden visualizar su evolución ni comparar el peso levantado semana a semana de forma automática.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23760" y="19476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Comunicación dispersa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53288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mensajería ocurre por WhatsApp o email, sin un canal centralizado vinculado directamente al plan de entrenamiento.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4096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planificación semanal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681728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una vista clara de qué rutina corresponde a cada día, lo que genera confusión y falta de adherencia al plan.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— 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E-GYM: plataforma web para entrenadores y clientes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1430000" cy="777240"/>
          </a:xfrm>
          <a:prstGeom prst="roundRect">
            <a:avLst>
              <a:gd name="adj" fmla="val 14118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PWA que conecta a entrenadores con sus clientes para gestionar rutinas, registrar progreso y comunicarse — todo desde el móvil, incluso sin internet.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834640"/>
            <a:ext cx="5394960" cy="457200"/>
          </a:xfrm>
          <a:prstGeom prst="roundRect">
            <a:avLst>
              <a:gd name="adj" fmla="val 24000"/>
            </a:avLst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ENTRENADOR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Gestión de clientes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87705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 Diseño de rutinas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32511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Catálogo de ejercicios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77316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Planificación semanal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2212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Seguimiento del progreso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566928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Mensajería integrada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5394960" cy="457200"/>
          </a:xfrm>
          <a:prstGeom prst="roundRect">
            <a:avLst>
              <a:gd name="adj" fmla="val 24000"/>
            </a:avLst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834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42900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 Ver rutinas asignadas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87705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Registrar series y pesos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32511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Gráficas de progreso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77316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Control de peso corporal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52212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Timer de descanso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566928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Funciona sin internet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—  TECNOLOGÍAS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3657600" cy="64008"/>
          </a:xfrm>
          <a:prstGeom prst="rect">
            <a:avLst/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8105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 3 + Pinia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reactivo con Composition API y gestión de estado global. Router con guards de rol (trainer/client).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45920"/>
            <a:ext cx="3657600" cy="64008"/>
          </a:xfrm>
          <a:prstGeom prst="rect">
            <a:avLst/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4920" y="18105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 + Tailwind CSS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240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A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57860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Bundler ultrarrápido y CSS utility-first. Diseño mobile-first con tema oscuro y acento dorado personalizado.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645920"/>
            <a:ext cx="3657600" cy="64008"/>
          </a:xfrm>
          <a:prstGeom prst="rect">
            <a:avLst/>
          </a:prstGeom>
          <a:solidFill>
            <a:srgbClr val="5BA0F2"/>
          </a:solidFill>
          <a:ln w="12700">
            <a:solidFill>
              <a:srgbClr val="5BA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06840" y="181051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06840" y="224028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57860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en Node.js con rutas por recurso, middlewares de autenticación, autorización y rate limiting.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023360"/>
            <a:ext cx="36576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43000" y="4187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 (Supabase)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6177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95604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automáticos de updated_at, índices optimizados para las queries más frecuentes, UUIDs nativos.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4023360"/>
            <a:ext cx="36576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74920" y="4187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+ bcrypt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74920" y="46177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80560" y="495604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15 min + refresh token 30 días con rotación y lista negra. Contraseñas con bcrypt factor 10.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229600" y="4023360"/>
            <a:ext cx="3657600" cy="2103120"/>
          </a:xfrm>
          <a:prstGeom prst="roundRect">
            <a:avLst>
              <a:gd name="adj" fmla="val 5217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023360"/>
            <a:ext cx="3657600" cy="64008"/>
          </a:xfrm>
          <a:prstGeom prst="rect">
            <a:avLst/>
          </a:prstGeom>
          <a:solidFill>
            <a:srgbClr val="F4C46A"/>
          </a:solidFill>
          <a:ln w="12700">
            <a:solidFill>
              <a:srgbClr val="F4C4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06840" y="418795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06840" y="46177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956048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Worker, Web App Manifest, modo offline con cola de sincronización automática al recuperar conexión.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—  ARQUITECTURA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cliente–servidor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200400" cy="4480560"/>
          </a:xfrm>
          <a:prstGeom prst="roundRect">
            <a:avLst>
              <a:gd name="adj" fmla="val 3429"/>
            </a:avLst>
          </a:prstGeom>
          <a:solidFill>
            <a:srgbClr val="0F0F20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SPA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(estado)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15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1421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(HTTP)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26864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2686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395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Queue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3858768"/>
            <a:ext cx="941832" cy="0"/>
          </a:xfrm>
          <a:prstGeom prst="line">
            <a:avLst/>
          </a:prstGeom>
          <a:noFill/>
          <a:ln w="12700">
            <a:solidFill>
              <a:srgbClr val="ECA72C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3611880" y="4133088"/>
            <a:ext cx="941832" cy="0"/>
          </a:xfrm>
          <a:prstGeom prst="line">
            <a:avLst/>
          </a:prstGeom>
          <a:noFill/>
          <a:ln w="12700">
            <a:solidFill>
              <a:srgbClr val="AAAABC"/>
            </a:solidFill>
            <a:prstDash val="solid"/>
            <a:headEnd type="arrow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572000" y="1645920"/>
            <a:ext cx="3200400" cy="4480560"/>
          </a:xfrm>
          <a:prstGeom prst="roundRect">
            <a:avLst>
              <a:gd name="adj" fmla="val 3429"/>
            </a:avLst>
          </a:prstGeom>
          <a:solidFill>
            <a:srgbClr val="0F0F20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A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17627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7627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8892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Middleware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401568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015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014216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01421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REST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4626864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62686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asyncHandler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523951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52395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db-helpers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818120" y="3858768"/>
            <a:ext cx="941832" cy="0"/>
          </a:xfrm>
          <a:prstGeom prst="line">
            <a:avLst/>
          </a:prstGeom>
          <a:noFill/>
          <a:ln w="12700">
            <a:solidFill>
              <a:srgbClr val="5BA0F2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7818120" y="4133088"/>
            <a:ext cx="941832" cy="0"/>
          </a:xfrm>
          <a:prstGeom prst="line">
            <a:avLst/>
          </a:prstGeom>
          <a:noFill/>
          <a:ln w="12700">
            <a:solidFill>
              <a:srgbClr val="AAAABC"/>
            </a:solidFill>
            <a:prstDash val="solid"/>
            <a:headEnd type="arrow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778240" y="1645920"/>
            <a:ext cx="3200400" cy="4480560"/>
          </a:xfrm>
          <a:prstGeom prst="roundRect">
            <a:avLst>
              <a:gd name="adj" fmla="val 3429"/>
            </a:avLst>
          </a:prstGeom>
          <a:solidFill>
            <a:srgbClr val="0F0F20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61120" y="217627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217627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61120" y="2788920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278892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(Supabase)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61120" y="3401568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340156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 workouts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961120" y="4014216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401421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961120" y="4626864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0" y="462686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progress_logs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961120" y="5239512"/>
            <a:ext cx="2834640" cy="493776"/>
          </a:xfrm>
          <a:prstGeom prst="roundRect">
            <a:avLst>
              <a:gd name="adj" fmla="val 22222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0" y="52395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—  BASE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3657600" cy="384048"/>
          </a:xfrm>
          <a:prstGeom prst="rect">
            <a:avLst/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 PK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TEXT  UNIQUE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  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  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 ENUM(trainer,client)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38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trainer_id  FK → users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645920"/>
            <a:ext cx="3657600" cy="384048"/>
          </a:xfrm>
          <a:prstGeom prst="rect">
            <a:avLst/>
          </a:prstGeom>
          <a:solidFill>
            <a:srgbClr val="5BA0F2"/>
          </a:solidFill>
          <a:ln w="12700">
            <a:solidFill>
              <a:srgbClr val="5BA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645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 PK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404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trainer_id  FK → 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  FK → users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2971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TEXT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3255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scheduled_date  DATE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3538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 BOOLEAN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164592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645920"/>
            <a:ext cx="3657600" cy="384048"/>
          </a:xfrm>
          <a:prstGeom prst="rect">
            <a:avLst/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645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workout_exercises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 PK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2404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workout_id  FK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exercise_id  FK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2971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/ reps / rest_secs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0" y="3255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 TEXT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412480" y="3538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order_index  INT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14800"/>
            <a:ext cx="365760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14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progress_logs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590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 PK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873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client_id  FK → users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1572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workout_exercise_id  FK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440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set_number  INT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724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weight_kg  NUMERIC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0076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logged_at  TIMESTAMPTZ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9768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4114800"/>
            <a:ext cx="365760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4114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80560" y="4590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UUID  PK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80560" y="4873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sender_id  FK → users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480560" y="51572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receiver_id  FK → users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480560" y="5440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 TEXT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480560" y="5724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is_read  BOOLEAN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480560" y="60076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sent_at  TIMESTAMPTZ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411480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4114800"/>
            <a:ext cx="365760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6760" y="4114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revoked_tokens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412480" y="4590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jti  TEXT  PK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12480" y="4873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expires_at  TIMESTAMPTZ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12480" y="51572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(limpieza automática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412480" y="5440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6 horas)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412480" y="5724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Índice en expires_at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412480" y="60076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purge eficiente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—  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del entrenador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clientes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Alta, baja y edición de perfiles. Vista detallada por cliente con historial de sesiones, progreso y mensajes.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💪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6636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de rutinas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rutinas con ejercicios del catálogo. Configura series, reps, descanso y notas por ejercicio.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Catálogo de ejercicios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ejercicios propios y biblioteca global compartida. Con grupo muscular y enlace a vídeo.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Planificación semanal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rutinas a días de la semana por cliente. El cliente lo ve automáticamente en su dashboard.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16636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Seguimiento del cliente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Gráficas de evolución por ejercicio, historial de sesiones completadas y métricas corporales.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Mensajería directa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mensajes con cada cliente. Contador de mensajes no leídos visible desde el panel principal.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37D6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—  FUNCIONALIDADES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del cliente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🏋️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personal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rutinas activas, series completadas hoy, racha de días entrenados y rutina programada para hoy.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6636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 de entreno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series completadas con peso y repeticiones. Calculadora de placas integrada para configurar la barra.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18288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Timer de descanso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54203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 configurable entre series. Persiste activo aunque el usuario navegue a otra pantalla.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Gráficas de progreso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del peso levantado por ejercicio a lo largo del tiempo. Historial de sesiones con esfuerzo percibido.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16636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 corporales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8056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peso y porcentaje de grasa. Gráficas de evolución para ver tendencias a largo plazo.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40690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Modo sin conexión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965192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series se guardan localmente y se sincronizan automáticamente al recuperar la conexión a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—  SEGURIDAD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de la aplicación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8105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con rotación de tokens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222199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15 min + refresh token 30 días. Cada renovación invalida el anterior. Claim jti único por token.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A0F2"/>
          </a:solidFill>
          <a:ln w="12700">
            <a:solidFill>
              <a:srgbClr val="5BA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18105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negra de tokens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68312" y="222199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hacer logout, el refresh token se añade a revoked_tokens en BD. Limpieza automática cada 6 horas.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66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547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bcrypt para contraseñas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95935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contraseñas se hashean con bcrypt (factor 10) antes de almacenarse. Nunca en texto plano.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566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68312" y="3547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8312" y="395935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Login: 20 req/15 min. Registro: 10 req/h. Forgot-password: 5 req/h. Previene ataques de fuerza bruta.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512064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03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52852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Helmet + CORS restrictivo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569671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de seguridad HTTP con Helmet. CORS solo permite el dominio del frontend configurado en .env.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5120640"/>
            <a:ext cx="5532120" cy="1508760"/>
          </a:xfrm>
          <a:prstGeom prst="roundRect">
            <a:avLst>
              <a:gd name="adj" fmla="val 7273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5303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68312" y="52852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Autorización por rol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68312" y="569671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requireAuth + requireRole en cada ruta. Un cliente nunca accede a datos de otro. El entrenador solo ve sus clientes.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—  PWA &amp; OFFLINE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Web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Instalable en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 y escritorio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internet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nativas del sistema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11430000" cy="2926080"/>
          </a:xfrm>
          <a:prstGeom prst="roundRect">
            <a:avLst>
              <a:gd name="adj" fmla="val 375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sincronización offline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840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🏋️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4320" y="4453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73352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A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35224" y="3840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98064" y="4453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guardada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localmente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97096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A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58968" y="3840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321808" y="4453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detecta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A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982712" y="3840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845552" y="4453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44584" y="40233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A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06456" y="3840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369296" y="44531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vaciada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 —  DESPLIEGUE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Despliegue en producción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solidFill>
            <a:srgbClr val="5BA0F2"/>
          </a:solidFill>
          <a:ln w="12700">
            <a:solidFill>
              <a:srgbClr val="5BA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🚂  Railway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Node.js con el API REST Express. Deploy automático desde Git. Variables de entorno configuradas en el panel de Railway.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  Railway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(estático)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 Vue/Vite servido como sitio estático. La variable VITE_API_URL apunta a la URL del backend de Railway.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Supabase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304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27432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como servicio. El backend conecta via DATABASE_URL directamente. No se usan las APIs de Supabase Auth.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6172200"/>
            <a:ext cx="11430000" cy="54864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199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credenciales sensibles (DATABASE_URL, JWT_SECRET) se gestionan como variables de entorno en Railway — nunca en el repositorio Git.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Logros y mejoras futuras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5394960" cy="411480"/>
          </a:xfrm>
          <a:prstGeom prst="rect">
            <a:avLst/>
          </a:prstGeom>
          <a:solidFill>
            <a:srgbClr val="37D6A5"/>
          </a:solidFill>
          <a:ln w="12700">
            <a:solidFill>
              <a:srgbClr val="37D6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conseguidos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Aplicación full-stack funcional y desplegada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Roles diferenciados: trainer y client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Autenticación segura con JWT rotation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124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PWA instalable con soporte offline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Sistema de mensajería integrado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Planificación semanal de entrenamientos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486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Gráficas de progreso y métricas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Rate limiting y protección frente a ataques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13131F"/>
          </a:solidFill>
          <a:ln w="12700">
            <a:solidFill>
              <a:srgbClr val="1E1E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45920"/>
            <a:ext cx="5394960" cy="411480"/>
          </a:xfrm>
          <a:prstGeom prst="rect">
            <a:avLst/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6459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Mejoras futuras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176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Envío real de emails (reset de contraseña)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26883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Notificaciones push para los entrenamientos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Plan nutricional y registro de comidas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37124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 nativa con Capacitor (iOS/Android)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4224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Pagos y suscripciones con Stripe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4736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PDF con informe mensual del cliente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52486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Videollamada entrenador–cliente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Estadísticas avanzadas del entrenador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A72C"/>
          </a:solidFill>
          <a:ln w="12700">
            <a:solidFill>
              <a:srgbClr val="ECA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ECA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E-GYM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vuestra atención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0" y="3154680"/>
            <a:ext cx="3931920" cy="0"/>
          </a:xfrm>
          <a:prstGeom prst="line">
            <a:avLst/>
          </a:prstGeom>
          <a:noFill/>
          <a:ln w="12700">
            <a:solidFill>
              <a:srgbClr val="ECA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64592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53949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2E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5394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Fin de Ciclo  ·  DAW / DAM  ·  2024–25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2026-05-28T14:08:22Z</dcterms:created>
  <dcterms:modified xsi:type="dcterms:W3CDTF">2026-05-28T14:08:22Z</dcterms:modified>
</cp:coreProperties>
</file>